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8"/>
  </p:notesMasterIdLst>
  <p:sldIdLst>
    <p:sldId id="256" r:id="rId2"/>
    <p:sldId id="311" r:id="rId3"/>
    <p:sldId id="303" r:id="rId4"/>
    <p:sldId id="304" r:id="rId5"/>
    <p:sldId id="298" r:id="rId6"/>
    <p:sldId id="31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AAD"/>
    <a:srgbClr val="0070C0"/>
    <a:srgbClr val="2EB67D"/>
    <a:srgbClr val="DFFFE3"/>
    <a:srgbClr val="4775E7"/>
    <a:srgbClr val="064EAF"/>
    <a:srgbClr val="0000FF"/>
    <a:srgbClr val="FF5757"/>
    <a:srgbClr val="F4FAFF"/>
    <a:srgbClr val="C3C5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803"/>
    <p:restoredTop sz="96327"/>
  </p:normalViewPr>
  <p:slideViewPr>
    <p:cSldViewPr snapToGrid="0" snapToObjects="1">
      <p:cViewPr varScale="1">
        <p:scale>
          <a:sx n="123" d="100"/>
          <a:sy n="123" d="100"/>
        </p:scale>
        <p:origin x="61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3EE703-4B8F-7344-B78C-D8ED9943524C}" type="datetimeFigureOut">
              <a:rPr lang="en-US" smtClean="0"/>
              <a:t>4/7/26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71B93A-DD76-5842-9D9F-2C38AC033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163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EB430-1489-1144-A25A-7CE0DBE956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70250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rgbClr val="00203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D4A096-5278-FE4D-950C-45A22DD7111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349925"/>
            <a:ext cx="9144000" cy="1486797"/>
          </a:xfrm>
        </p:spPr>
        <p:txBody>
          <a:bodyPr/>
          <a:lstStyle>
            <a:lvl1pPr marL="0" indent="0" algn="ctr">
              <a:buNone/>
              <a:defRPr sz="2400">
                <a:solidFill>
                  <a:srgbClr val="00689D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00689D"/>
                </a:solidFill>
                <a:latin typeface="Calibri" panose="020F0502020204030204" pitchFamily="34" charset="0"/>
                <a:ea typeface="Arial"/>
                <a:cs typeface="Calibri" panose="020F0502020204030204" pitchFamily="34" charset="0"/>
                <a:sym typeface="Arial"/>
              </a:rPr>
              <a:t>Maciej Pacula, </a:t>
            </a:r>
            <a:r>
              <a:rPr lang="en-US" sz="2400" b="0" i="0" u="none" strike="noStrike" cap="none" dirty="0" err="1">
                <a:solidFill>
                  <a:srgbClr val="00689D"/>
                </a:solidFill>
                <a:latin typeface="Calibri" panose="020F0502020204030204" pitchFamily="34" charset="0"/>
                <a:ea typeface="Arial"/>
                <a:cs typeface="Calibri" panose="020F0502020204030204" pitchFamily="34" charset="0"/>
                <a:sym typeface="Arial"/>
              </a:rPr>
              <a:t>maciej@gofigr.io</a:t>
            </a:r>
            <a:endParaRPr lang="en-US" sz="2400" b="0" i="0" u="none" strike="noStrike" cap="none" dirty="0">
              <a:solidFill>
                <a:srgbClr val="00689D"/>
              </a:solidFill>
              <a:latin typeface="Calibri" panose="020F0502020204030204" pitchFamily="34" charset="0"/>
              <a:ea typeface="Arial"/>
              <a:cs typeface="Calibri" panose="020F0502020204030204" pitchFamily="34" charset="0"/>
              <a:sym typeface="Arial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00689D"/>
                </a:solidFill>
                <a:latin typeface="Calibri" panose="020F0502020204030204" pitchFamily="34" charset="0"/>
                <a:ea typeface="Arial"/>
                <a:cs typeface="Calibri" panose="020F0502020204030204" pitchFamily="34" charset="0"/>
                <a:sym typeface="Arial"/>
              </a:rPr>
              <a:t>September 19, 2023</a:t>
            </a:r>
            <a:endParaRPr lang="en-US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ACE6DE72-C1F5-C52B-708E-7B3C84DD8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C717A-89E1-6943-A36B-2089E4AC3337}" type="datetime1">
              <a:rPr lang="en-US" smtClean="0"/>
              <a:t>4/7/26</a:t>
            </a:fld>
            <a:endParaRPr 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2EDC426D-5835-087D-8495-B06F05620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F820A238-5130-A692-8144-379D87CB8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t>‹#›</a:t>
            </a:fld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5531E6C-5165-1454-DB16-BD64087F6DF4}"/>
              </a:ext>
            </a:extLst>
          </p:cNvPr>
          <p:cNvSpPr/>
          <p:nvPr userDrawn="1"/>
        </p:nvSpPr>
        <p:spPr>
          <a:xfrm>
            <a:off x="158338" y="1021278"/>
            <a:ext cx="11895117" cy="1010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F2A02BD-F34E-E37A-3EF6-AD870459A5A7}"/>
              </a:ext>
            </a:extLst>
          </p:cNvPr>
          <p:cNvGrpSpPr/>
          <p:nvPr userDrawn="1"/>
        </p:nvGrpSpPr>
        <p:grpSpPr>
          <a:xfrm>
            <a:off x="4136402" y="444473"/>
            <a:ext cx="3919196" cy="1333702"/>
            <a:chOff x="2875010" y="829456"/>
            <a:chExt cx="3919196" cy="1333702"/>
          </a:xfrm>
        </p:grpSpPr>
        <p:pic>
          <p:nvPicPr>
            <p:cNvPr id="21" name="Picture 20" descr="A close-up of a logo&#10;&#10;Description automatically generated">
              <a:extLst>
                <a:ext uri="{FF2B5EF4-FFF2-40B4-BE49-F238E27FC236}">
                  <a16:creationId xmlns:a16="http://schemas.microsoft.com/office/drawing/2014/main" id="{8C084690-091F-792F-0B02-5BAE30B93B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rcRect r="77353"/>
            <a:stretch>
              <a:fillRect/>
            </a:stretch>
          </p:blipFill>
          <p:spPr>
            <a:xfrm>
              <a:off x="2875010" y="829456"/>
              <a:ext cx="1335484" cy="1333702"/>
            </a:xfrm>
            <a:prstGeom prst="rect">
              <a:avLst/>
            </a:prstGeom>
          </p:spPr>
        </p:pic>
        <p:pic>
          <p:nvPicPr>
            <p:cNvPr id="4" name="Picture 3" descr="A close-up of a logo&#10;&#10;Description automatically generated">
              <a:extLst>
                <a:ext uri="{FF2B5EF4-FFF2-40B4-BE49-F238E27FC236}">
                  <a16:creationId xmlns:a16="http://schemas.microsoft.com/office/drawing/2014/main" id="{F7654B37-0C9A-B2EB-30EE-B094837C5C2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rcRect l="23764" r="42994" b="34380"/>
            <a:stretch>
              <a:fillRect/>
            </a:stretch>
          </p:blipFill>
          <p:spPr>
            <a:xfrm>
              <a:off x="4210494" y="850730"/>
              <a:ext cx="2583712" cy="115350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11759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063BD-372E-2546-9FB7-A973C03F2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1D580-F260-574D-B001-772EA779A9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5033CB-C0ED-6546-BCC3-051520B11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4A6D17-4233-C647-88C8-CD184C8443CB}" type="datetime1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6B9A72-56F1-9941-B391-F5E2B29B6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1C353F-B4F9-3D4E-B7C1-379BCC214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00203F"/>
                </a:solidFill>
              </a:defRPr>
            </a:lvl1pPr>
          </a:lstStyle>
          <a:p>
            <a:fld id="{7FCC63C6-BC1E-CC49-9701-9DA8C2A99AE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3892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35CD1-3ABB-AC43-BD18-8872AE684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rgbClr val="00203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9E0C91-FE93-EF4A-979C-69B1DC7254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00689D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38EB96-986D-494C-918C-6188F11B3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F4774-F6B8-F945-827C-D701CFF07764}" type="datetime1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ED3B6E-49F4-9245-AF7C-203A056AD1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E8588-565A-ED49-BE98-473097410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354692B1-A3E1-60FC-8FD7-199B73DD35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60867" y="0"/>
            <a:ext cx="4461933" cy="101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62622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1E26B-1161-C341-88A0-FACE868103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2498A-BA68-6C41-ADD6-89B16C1A28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1E6555-2B7D-8540-B4F1-95CCF54C48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3C4B43-ADC6-394D-AFBE-D4300E139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22412-7F8B-A74E-B9C4-EFDA2D7031EF}" type="datetime1">
              <a:rPr lang="en-US" smtClean="0"/>
              <a:t>4/7/26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056AAF-2867-904C-95EA-1B81F2902F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44647C-751F-1549-9146-29B6AE2FB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8961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FD57B-12F5-8942-B792-DACFFCE77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C6F57D-B94E-DD42-A127-9AA3836AF1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202C34-9D60-9C4E-8DF4-711594EA1F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2DD894-55BF-A348-96E2-C717FCE1CA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49C08F-72E0-724A-B9BE-1559FEBCA4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5A3919F-A890-9049-BCCD-7E018E253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1EBB2-CF32-3043-98F6-DCCA3DD08FAB}" type="datetime1">
              <a:rPr lang="en-US" smtClean="0"/>
              <a:t>4/7/26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30966D-465E-AF48-A7E1-DC9067038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4283AE-F313-DB44-8007-045146742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349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DE870-8ED7-FE4C-A2A4-A74B019DD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2F9A33-EDD7-454E-B31D-62FB118AA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9905E-E421-8443-90F9-98B6D40033C9}" type="datetime1">
              <a:rPr lang="en-US" smtClean="0"/>
              <a:t>4/7/26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4946B6-3F32-DF46-932C-2E60C4C54A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DA0D02-0A61-1F4F-8A48-EEB039C57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6597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17F994-84DA-F346-8DB7-42DE64C7F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240F3-0893-CB41-B1AC-6E7D51AAFAA1}" type="datetime1">
              <a:rPr lang="en-US" smtClean="0"/>
              <a:t>4/7/26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5A2E01-6D73-8640-AECA-907E61664A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E1E873-3B65-D142-9A1A-3A7364233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2169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A74BB-6EE2-E646-A4F1-5DD4F2F75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085675-B069-4F48-A387-F8A2CB8B02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625903-A492-1C4D-8BCD-790458CD39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AFC317-902D-FE4F-A165-1FB5628DC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D4141-5511-224C-AC98-FC474A2681EC}" type="datetime1">
              <a:rPr lang="en-US" smtClean="0"/>
              <a:t>4/7/26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DD4662-A166-EC44-A23D-0137079D2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533844-4355-2546-9076-D3EB66DC0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6521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5DF93C-1686-3449-A03E-5C47DABDF8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4CF3FD8-2979-034C-B228-69BC135A00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991829-9533-614F-8A75-98D4FCA79B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E79D6C-5134-CB43-9A7D-84B10CE503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8F825-A9EB-E445-BB03-F30D7B81C2CF}" type="datetime1">
              <a:rPr lang="en-US" smtClean="0"/>
              <a:t>4/7/26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9DA093-9D28-A24A-BF34-C9DB38E6FE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566DDA-43AA-9240-A52A-5DF722153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6252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810A-EB5B-DF46-BF43-F2BA16E19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BD5B00-ECB5-BF4A-8EA5-CF7600CF36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44D224-CF88-EE47-ABA8-0412CC66C1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8454B-BB8D-1F4E-B821-212382FBA6B5}" type="datetime1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CC45B4-59FE-EB41-A893-A2CC4608E5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BA6899-907F-024C-A5A1-FF933C75C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09022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97E176-61C3-924E-A75D-AD9704EA26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FDABBCA-1FBD-A644-9BE7-BA32D66986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50248C-AF14-B548-84FD-B304AC7FF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C47F26-A76B-7F4D-ADD9-DF6F7C1391D1}" type="datetime1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7FEE10-0F68-7E4D-A952-0B777771A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6E8376-FB18-844D-84CC-AC77DD124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7438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4F5B34B-7F96-0B45-9E15-8259F564FC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3569" y="18254"/>
            <a:ext cx="11724861" cy="9855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685C45-0F81-CD42-BDE4-56C2178CD2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9964" y="1258380"/>
            <a:ext cx="11092070" cy="49146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974387-1C79-0348-939B-219FBAFE85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693503" y="6356350"/>
            <a:ext cx="1136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DC717A-89E1-6943-A36B-2089E4AC3337}" type="datetime1">
              <a:rPr lang="en-US" smtClean="0"/>
              <a:t>4/7/26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56ACE6-5D28-3F4C-82DA-A4FEFD597E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98613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A9E3C-227F-1243-A09B-86757D226F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860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CC63C6-BC1E-CC49-9701-9DA8C2A99AE0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Google Shape;96;p2">
            <a:extLst>
              <a:ext uri="{FF2B5EF4-FFF2-40B4-BE49-F238E27FC236}">
                <a16:creationId xmlns:a16="http://schemas.microsoft.com/office/drawing/2014/main" id="{8AEEEBCC-5AEE-C440-8231-ED7E27080EEB}"/>
              </a:ext>
            </a:extLst>
          </p:cNvPr>
          <p:cNvCxnSpPr>
            <a:cxnSpLocks/>
          </p:cNvCxnSpPr>
          <p:nvPr/>
        </p:nvCxnSpPr>
        <p:spPr>
          <a:xfrm>
            <a:off x="233569" y="1075101"/>
            <a:ext cx="11724861" cy="0"/>
          </a:xfrm>
          <a:prstGeom prst="straightConnector1">
            <a:avLst/>
          </a:prstGeom>
          <a:noFill/>
          <a:ln w="19050" cap="rnd" cmpd="sng">
            <a:solidFill>
              <a:srgbClr val="064EAF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2" name="Google Shape;96;p2">
            <a:extLst>
              <a:ext uri="{FF2B5EF4-FFF2-40B4-BE49-F238E27FC236}">
                <a16:creationId xmlns:a16="http://schemas.microsoft.com/office/drawing/2014/main" id="{314D0C3D-9B49-FE40-AAE4-723C0B2761E7}"/>
              </a:ext>
            </a:extLst>
          </p:cNvPr>
          <p:cNvCxnSpPr>
            <a:cxnSpLocks/>
          </p:cNvCxnSpPr>
          <p:nvPr/>
        </p:nvCxnSpPr>
        <p:spPr>
          <a:xfrm>
            <a:off x="233569" y="6276838"/>
            <a:ext cx="11724861" cy="0"/>
          </a:xfrm>
          <a:prstGeom prst="straightConnector1">
            <a:avLst/>
          </a:prstGeom>
          <a:noFill/>
          <a:ln w="19050" cap="rnd" cmpd="sng">
            <a:solidFill>
              <a:srgbClr val="064EAF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8" name="Picture 7" descr="A close-up of a logo&#10;&#10;Description automatically generated">
            <a:extLst>
              <a:ext uri="{FF2B5EF4-FFF2-40B4-BE49-F238E27FC236}">
                <a16:creationId xmlns:a16="http://schemas.microsoft.com/office/drawing/2014/main" id="{AFCACD7A-67FF-7F81-2782-A6FDC47B0734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88628" y="6342857"/>
            <a:ext cx="1772519" cy="402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28873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203F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gofigr.io/register" TargetMode="External"/><Relationship Id="rId2" Type="http://schemas.openxmlformats.org/officeDocument/2006/relationships/hyperlink" Target="https://github.com/GoFigr/examples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cs.gofigr.io/" TargetMode="External"/><Relationship Id="rId4" Type="http://schemas.openxmlformats.org/officeDocument/2006/relationships/hyperlink" Target="mailto:maciej@gofigr.io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jpe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gofigr.io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C6C56-F5D8-1646-97B9-230C2395DF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3642" y="1411555"/>
            <a:ext cx="10444716" cy="2387600"/>
          </a:xfrm>
        </p:spPr>
        <p:txBody>
          <a:bodyPr>
            <a:normAutofit/>
          </a:bodyPr>
          <a:lstStyle/>
          <a:p>
            <a:r>
              <a:rPr lang="en-US" dirty="0"/>
              <a:t>GoFigr Open Lab!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9B95247-2654-CC4D-B31F-3347D68691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28511"/>
            <a:ext cx="9144000" cy="2087562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Maciej Pacula</a:t>
            </a:r>
          </a:p>
          <a:p>
            <a:r>
              <a:rPr lang="en-US" dirty="0"/>
              <a:t>Founder</a:t>
            </a:r>
          </a:p>
          <a:p>
            <a:r>
              <a:rPr lang="en-US" dirty="0"/>
              <a:t>https://</a:t>
            </a:r>
            <a:r>
              <a:rPr lang="en-US" dirty="0" err="1"/>
              <a:t>gofigr.io</a:t>
            </a:r>
            <a:endParaRPr lang="en-US" dirty="0"/>
          </a:p>
          <a:p>
            <a:endParaRPr lang="en-US" dirty="0"/>
          </a:p>
          <a:p>
            <a:r>
              <a:rPr lang="en-US" dirty="0"/>
              <a:t>April 8, 2026</a:t>
            </a:r>
          </a:p>
        </p:txBody>
      </p:sp>
    </p:spTree>
    <p:extLst>
      <p:ext uri="{BB962C8B-B14F-4D97-AF65-F5344CB8AC3E}">
        <p14:creationId xmlns:p14="http://schemas.microsoft.com/office/powerpoint/2010/main" val="27458678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6B34D-6B1C-7028-DDDA-E5FD3BCB8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DFCED2-3E88-BD8C-9317-99FF7B5154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963" y="1258380"/>
            <a:ext cx="5694973" cy="4914691"/>
          </a:xfrm>
        </p:spPr>
        <p:txBody>
          <a:bodyPr>
            <a:normAutofit/>
          </a:bodyPr>
          <a:lstStyle/>
          <a:p>
            <a:r>
              <a:rPr lang="en-US" dirty="0"/>
              <a:t>GoFigr setup</a:t>
            </a:r>
          </a:p>
          <a:p>
            <a:r>
              <a:rPr lang="en-US" dirty="0"/>
              <a:t>TCGA download</a:t>
            </a:r>
          </a:p>
          <a:p>
            <a:r>
              <a:rPr lang="en-US"/>
              <a:t>LUAD </a:t>
            </a:r>
            <a:r>
              <a:rPr lang="en-US" dirty="0"/>
              <a:t>+ LUSC differential expression in R</a:t>
            </a:r>
          </a:p>
          <a:p>
            <a:r>
              <a:rPr lang="en-US" dirty="0"/>
              <a:t>Follow-up analysis in Python (Jupyter)</a:t>
            </a:r>
          </a:p>
          <a:p>
            <a:r>
              <a:rPr lang="en-US" dirty="0"/>
              <a:t>Clean Room!</a:t>
            </a:r>
          </a:p>
          <a:p>
            <a:r>
              <a:rPr lang="en-US" dirty="0"/>
              <a:t>Combine both into an AI-generated slide deck with full provenance</a:t>
            </a:r>
          </a:p>
          <a:p>
            <a:pPr lvl="1"/>
            <a:r>
              <a:rPr lang="en-US" dirty="0"/>
              <a:t>… and update to latest figures with a click of a button! </a:t>
            </a:r>
          </a:p>
          <a:p>
            <a:pPr lvl="1"/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C4762B-5992-3552-6578-A2EF4DF61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FB1AAC3-BE4D-35D5-455A-A3ADF6486555}"/>
              </a:ext>
            </a:extLst>
          </p:cNvPr>
          <p:cNvSpPr/>
          <p:nvPr/>
        </p:nvSpPr>
        <p:spPr>
          <a:xfrm>
            <a:off x="7292457" y="1258380"/>
            <a:ext cx="4763255" cy="3792682"/>
          </a:xfrm>
          <a:prstGeom prst="roundRect">
            <a:avLst>
              <a:gd name="adj" fmla="val 3242"/>
            </a:avLst>
          </a:prstGeom>
          <a:ln w="28575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800" b="1" dirty="0"/>
          </a:p>
          <a:p>
            <a:pPr algn="ctr"/>
            <a:r>
              <a:rPr lang="en-US" sz="2800" b="1" dirty="0"/>
              <a:t>Free stuff</a:t>
            </a:r>
          </a:p>
          <a:p>
            <a:pPr algn="ctr"/>
            <a:endParaRPr lang="en-US" sz="28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Code and slides from today: </a:t>
            </a:r>
            <a:r>
              <a:rPr lang="en-US" sz="2000" dirty="0">
                <a:hlinkClick r:id="rId2"/>
              </a:rPr>
              <a:t>https://github.com/GoFigr/examples</a:t>
            </a: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GoFigr signup at </a:t>
            </a:r>
            <a:r>
              <a:rPr lang="en-US" sz="2000" dirty="0">
                <a:hlinkClick r:id="rId3"/>
              </a:rPr>
              <a:t>https://app.gofigr.io/register</a:t>
            </a:r>
            <a:r>
              <a:rPr lang="en-US" sz="2000" dirty="0"/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Also send me a note at </a:t>
            </a:r>
            <a:r>
              <a:rPr lang="en-US" sz="2000" dirty="0">
                <a:hlinkClick r:id="rId4"/>
              </a:rPr>
              <a:t>maciej@gofigr.io</a:t>
            </a:r>
            <a:r>
              <a:rPr lang="en-US" sz="2000" dirty="0"/>
              <a:t> for an upgrade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Documentation at </a:t>
            </a:r>
            <a:r>
              <a:rPr lang="en-US" sz="2000" dirty="0">
                <a:hlinkClick r:id="rId5"/>
              </a:rPr>
              <a:t>https://docs.gofigr.io/</a:t>
            </a:r>
            <a:endParaRPr lang="en-US" sz="2000" dirty="0"/>
          </a:p>
          <a:p>
            <a:endParaRPr lang="en-US" sz="2000" dirty="0"/>
          </a:p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4035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14C25-831F-C5E7-5FEC-00F8B3649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Tracking down context and reproducing figures is </a:t>
            </a:r>
            <a:r>
              <a:rPr lang="en-US" u="sng" dirty="0"/>
              <a:t>hard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7FF300-3EBF-D59A-8668-014786231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1028" name="Picture 4" descr="Plot object">
            <a:extLst>
              <a:ext uri="{FF2B5EF4-FFF2-40B4-BE49-F238E27FC236}">
                <a16:creationId xmlns:a16="http://schemas.microsoft.com/office/drawing/2014/main" id="{1783A5FB-EE6F-BB76-DB6D-4B7260C88B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2783" y="1507412"/>
            <a:ext cx="5320191" cy="3340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7D105A7-11AA-D8BA-A041-B6789520C999}"/>
              </a:ext>
            </a:extLst>
          </p:cNvPr>
          <p:cNvSpPr/>
          <p:nvPr/>
        </p:nvSpPr>
        <p:spPr>
          <a:xfrm>
            <a:off x="673388" y="1645446"/>
            <a:ext cx="4253567" cy="748573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000" dirty="0"/>
              <a:t>Does this figure </a:t>
            </a:r>
            <a:r>
              <a:rPr lang="en-US" sz="2000" u="sng" dirty="0"/>
              <a:t>include</a:t>
            </a:r>
            <a:r>
              <a:rPr lang="en-US" sz="2000" dirty="0"/>
              <a:t> smokers?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4095A05-B8EF-796F-08F7-006839DDDB2B}"/>
              </a:ext>
            </a:extLst>
          </p:cNvPr>
          <p:cNvSpPr/>
          <p:nvPr/>
        </p:nvSpPr>
        <p:spPr>
          <a:xfrm>
            <a:off x="673388" y="2587140"/>
            <a:ext cx="4253567" cy="748573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000" dirty="0"/>
              <a:t>Which </a:t>
            </a:r>
            <a:r>
              <a:rPr lang="en-US" sz="2000" u="sng" dirty="0"/>
              <a:t>version</a:t>
            </a:r>
            <a:r>
              <a:rPr lang="en-US" sz="2000" dirty="0"/>
              <a:t> of the data did we use?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7D45D03-02B6-C5BE-A974-2380856DDE13}"/>
              </a:ext>
            </a:extLst>
          </p:cNvPr>
          <p:cNvSpPr/>
          <p:nvPr/>
        </p:nvSpPr>
        <p:spPr>
          <a:xfrm>
            <a:off x="673388" y="3528834"/>
            <a:ext cx="4253567" cy="748573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000" dirty="0"/>
              <a:t>Can you re-do with our corporate colors? 🫠</a:t>
            </a:r>
          </a:p>
        </p:txBody>
      </p:sp>
      <p:pic>
        <p:nvPicPr>
          <p:cNvPr id="1030" name="Picture 6" descr="Punctuation of Life: Question Mark | by Christal Luster | Medium">
            <a:extLst>
              <a:ext uri="{FF2B5EF4-FFF2-40B4-BE49-F238E27FC236}">
                <a16:creationId xmlns:a16="http://schemas.microsoft.com/office/drawing/2014/main" id="{BBF90BF1-7DD0-EC08-8611-F623E314F0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966" y="4555117"/>
            <a:ext cx="1319135" cy="1314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8480127-4A6E-AA35-5B54-F1EA56C6063D}"/>
              </a:ext>
            </a:extLst>
          </p:cNvPr>
          <p:cNvSpPr/>
          <p:nvPr/>
        </p:nvSpPr>
        <p:spPr>
          <a:xfrm>
            <a:off x="1920150" y="5340035"/>
            <a:ext cx="8924307" cy="820122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Most figures are shared informally over Teams/Slack/Email. How do you keep track?</a:t>
            </a:r>
          </a:p>
        </p:txBody>
      </p:sp>
      <p:pic>
        <p:nvPicPr>
          <p:cNvPr id="15" name="Picture 10" descr="Microsoft PowerPoint - Wikipedia">
            <a:extLst>
              <a:ext uri="{FF2B5EF4-FFF2-40B4-BE49-F238E27FC236}">
                <a16:creationId xmlns:a16="http://schemas.microsoft.com/office/drawing/2014/main" id="{0353782A-56B4-5916-E865-0FC5AA4FC0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71639" y="1354136"/>
            <a:ext cx="564519" cy="5257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8" descr="Microsoft Teams - South Piedmont Community College">
            <a:extLst>
              <a:ext uri="{FF2B5EF4-FFF2-40B4-BE49-F238E27FC236}">
                <a16:creationId xmlns:a16="http://schemas.microsoft.com/office/drawing/2014/main" id="{6E9A0529-14B3-6D71-FED7-5B81377ECB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965" r="29296" b="35302"/>
          <a:stretch/>
        </p:blipFill>
        <p:spPr bwMode="auto">
          <a:xfrm>
            <a:off x="10844457" y="1269742"/>
            <a:ext cx="617034" cy="5257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8">
            <a:extLst>
              <a:ext uri="{FF2B5EF4-FFF2-40B4-BE49-F238E27FC236}">
                <a16:creationId xmlns:a16="http://schemas.microsoft.com/office/drawing/2014/main" id="{E39EA72F-E500-45FE-38FF-E40F86A916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84670" y="4636629"/>
            <a:ext cx="1367133" cy="348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D7D1FF0-6DE5-C72F-AB60-A43B718DE9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59736" y="4548389"/>
            <a:ext cx="576422" cy="536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2482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98F244A8-EB26-970E-75F9-FAFCCF59EC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577" y="1339784"/>
            <a:ext cx="6686611" cy="468062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D12ABFF-8393-32C6-4086-1A1CA8D02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3569" y="250230"/>
            <a:ext cx="11487863" cy="753617"/>
          </a:xfrm>
        </p:spPr>
        <p:txBody>
          <a:bodyPr>
            <a:normAutofit fontScale="90000"/>
          </a:bodyPr>
          <a:lstStyle/>
          <a:p>
            <a:r>
              <a:rPr lang="en-US" dirty="0"/>
              <a:t>What if you could embed context in the figure itself?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0D2D01-5D58-4C68-C96D-0AF73EDC4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E94A7BE-3717-4AB6-71ED-941D9F2127CA}"/>
              </a:ext>
            </a:extLst>
          </p:cNvPr>
          <p:cNvSpPr/>
          <p:nvPr/>
        </p:nvSpPr>
        <p:spPr>
          <a:xfrm>
            <a:off x="8258546" y="2093392"/>
            <a:ext cx="2641600" cy="55880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Code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B621EEB-ED82-F279-C53B-58370A9D314E}"/>
              </a:ext>
            </a:extLst>
          </p:cNvPr>
          <p:cNvSpPr/>
          <p:nvPr/>
        </p:nvSpPr>
        <p:spPr>
          <a:xfrm>
            <a:off x="8258546" y="2964929"/>
            <a:ext cx="2641600" cy="55880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860827A-D8DD-32FF-BCDD-780107C4DF70}"/>
              </a:ext>
            </a:extLst>
          </p:cNvPr>
          <p:cNvSpPr/>
          <p:nvPr/>
        </p:nvSpPr>
        <p:spPr>
          <a:xfrm>
            <a:off x="8258546" y="3836467"/>
            <a:ext cx="2641600" cy="55880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Metadata (e.g. informed consent)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9C28480-E115-FF59-4838-16E3917226AC}"/>
              </a:ext>
            </a:extLst>
          </p:cNvPr>
          <p:cNvSpPr/>
          <p:nvPr/>
        </p:nvSpPr>
        <p:spPr>
          <a:xfrm>
            <a:off x="8258546" y="4708005"/>
            <a:ext cx="2641600" cy="55880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Search</a:t>
            </a:r>
          </a:p>
        </p:txBody>
      </p: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5A4FFAF4-9974-F217-9D8C-BC722FBA6362}"/>
              </a:ext>
            </a:extLst>
          </p:cNvPr>
          <p:cNvCxnSpPr>
            <a:cxnSpLocks/>
            <a:stCxn id="21" idx="3"/>
            <a:endCxn id="8" idx="1"/>
          </p:cNvCxnSpPr>
          <p:nvPr/>
        </p:nvCxnSpPr>
        <p:spPr>
          <a:xfrm flipV="1">
            <a:off x="6641431" y="3244329"/>
            <a:ext cx="1617115" cy="2273887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23D904C-12A8-6AAD-0844-1FA04B4A96D2}"/>
              </a:ext>
            </a:extLst>
          </p:cNvPr>
          <p:cNvSpPr txBox="1"/>
          <p:nvPr/>
        </p:nvSpPr>
        <p:spPr>
          <a:xfrm>
            <a:off x="9452758" y="264296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60FFD4-A71A-236B-AB0E-A5F494399D47}"/>
              </a:ext>
            </a:extLst>
          </p:cNvPr>
          <p:cNvSpPr txBox="1"/>
          <p:nvPr/>
        </p:nvSpPr>
        <p:spPr>
          <a:xfrm>
            <a:off x="9452758" y="349543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A98AA3-2DBE-E0B3-436F-AD1D8DE90EF4}"/>
              </a:ext>
            </a:extLst>
          </p:cNvPr>
          <p:cNvSpPr txBox="1"/>
          <p:nvPr/>
        </p:nvSpPr>
        <p:spPr>
          <a:xfrm>
            <a:off x="9452758" y="435397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9" name="AutoShape 2">
            <a:extLst>
              <a:ext uri="{FF2B5EF4-FFF2-40B4-BE49-F238E27FC236}">
                <a16:creationId xmlns:a16="http://schemas.microsoft.com/office/drawing/2014/main" id="{1700FC29-B285-DEF0-791D-67EBA729D75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87D80E1-8589-F3CE-0190-2052E2056D25}"/>
              </a:ext>
            </a:extLst>
          </p:cNvPr>
          <p:cNvSpPr/>
          <p:nvPr/>
        </p:nvSpPr>
        <p:spPr>
          <a:xfrm>
            <a:off x="6416842" y="5397900"/>
            <a:ext cx="224589" cy="2406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7638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57DC9-5601-6703-7E47-C8D75DC73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A5503-8A92-7E31-A81E-742268AD7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GoFigr: automatic provenance</a:t>
            </a:r>
            <a:endParaRPr lang="en-US" b="1" u="sn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E9FC1A-A854-DDB4-6026-04834334F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3" name="Picture 20">
            <a:extLst>
              <a:ext uri="{FF2B5EF4-FFF2-40B4-BE49-F238E27FC236}">
                <a16:creationId xmlns:a16="http://schemas.microsoft.com/office/drawing/2014/main" id="{11FF2AA2-606A-D09A-4575-8C4DE525D3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458" y="2387437"/>
            <a:ext cx="2049007" cy="2049007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ight Arrow 15">
            <a:extLst>
              <a:ext uri="{FF2B5EF4-FFF2-40B4-BE49-F238E27FC236}">
                <a16:creationId xmlns:a16="http://schemas.microsoft.com/office/drawing/2014/main" id="{F6FBAB94-5D24-4D88-634D-430AFBAA4467}"/>
              </a:ext>
            </a:extLst>
          </p:cNvPr>
          <p:cNvSpPr/>
          <p:nvPr/>
        </p:nvSpPr>
        <p:spPr>
          <a:xfrm>
            <a:off x="3017369" y="3023965"/>
            <a:ext cx="2611490" cy="32978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A0E9DB-E3E8-DA65-0BE4-156D4D9F701C}"/>
              </a:ext>
            </a:extLst>
          </p:cNvPr>
          <p:cNvSpPr txBox="1"/>
          <p:nvPr/>
        </p:nvSpPr>
        <p:spPr>
          <a:xfrm>
            <a:off x="3174453" y="2225869"/>
            <a:ext cx="22327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4AAD"/>
                </a:solidFill>
              </a:rPr>
              <a:t>Real-time figure capture</a:t>
            </a:r>
            <a:endParaRPr lang="en-US" sz="2400" dirty="0"/>
          </a:p>
        </p:txBody>
      </p:sp>
      <p:sp>
        <p:nvSpPr>
          <p:cNvPr id="19" name="AutoShape 2">
            <a:extLst>
              <a:ext uri="{FF2B5EF4-FFF2-40B4-BE49-F238E27FC236}">
                <a16:creationId xmlns:a16="http://schemas.microsoft.com/office/drawing/2014/main" id="{0F233D0E-8341-AD44-FC37-032342614D2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554424" y="3286182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172" name="Picture 4">
            <a:extLst>
              <a:ext uri="{FF2B5EF4-FFF2-40B4-BE49-F238E27FC236}">
                <a16:creationId xmlns:a16="http://schemas.microsoft.com/office/drawing/2014/main" id="{249F89AC-9E5F-8EDA-764A-F045C26610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2972" y="2626930"/>
            <a:ext cx="1958902" cy="195890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942BCF06-0968-8D0D-CFEE-68EE521DAC89}"/>
              </a:ext>
            </a:extLst>
          </p:cNvPr>
          <p:cNvSpPr txBox="1"/>
          <p:nvPr/>
        </p:nvSpPr>
        <p:spPr>
          <a:xfrm>
            <a:off x="8124959" y="2387437"/>
            <a:ext cx="385919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4AAD"/>
                </a:solidFill>
              </a:rPr>
              <a:t>Every figure, every revision</a:t>
            </a:r>
            <a:r>
              <a:rPr lang="en-US" sz="2400" dirty="0"/>
              <a:t>, over the lifetime of your company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4AAD"/>
                </a:solidFill>
              </a:rPr>
              <a:t>Reproducible</a:t>
            </a:r>
            <a:r>
              <a:rPr lang="en-US" sz="2400" dirty="0"/>
              <a:t>: captures code and other context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4AAD"/>
                </a:solidFill>
              </a:rPr>
              <a:t>Full traceability </a:t>
            </a:r>
            <a:r>
              <a:rPr lang="en-US" sz="2400" dirty="0"/>
              <a:t>to author, data &amp; source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004AAD"/>
                </a:solidFill>
              </a:rPr>
              <a:t>Discoverable</a:t>
            </a:r>
            <a:r>
              <a:rPr lang="en-US" sz="2400" dirty="0"/>
              <a:t>: Search and indexing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A800CD1-D3AC-059E-CE58-1E885DDA8A31}"/>
              </a:ext>
            </a:extLst>
          </p:cNvPr>
          <p:cNvSpPr txBox="1"/>
          <p:nvPr/>
        </p:nvSpPr>
        <p:spPr>
          <a:xfrm>
            <a:off x="6374420" y="2590718"/>
            <a:ext cx="1419090" cy="2031325"/>
          </a:xfrm>
          <a:prstGeom prst="rect">
            <a:avLst/>
          </a:prstGeom>
          <a:solidFill>
            <a:srgbClr val="F4FAFF">
              <a:alpha val="50196"/>
            </a:srgb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Figures</a:t>
            </a: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Data</a:t>
            </a: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Environment</a:t>
            </a: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Code</a:t>
            </a:r>
          </a:p>
        </p:txBody>
      </p:sp>
      <p:pic>
        <p:nvPicPr>
          <p:cNvPr id="7" name="Picture 6" descr="A logo with black text&#10;&#10;AI-generated content may be incorrect.">
            <a:extLst>
              <a:ext uri="{FF2B5EF4-FFF2-40B4-BE49-F238E27FC236}">
                <a16:creationId xmlns:a16="http://schemas.microsoft.com/office/drawing/2014/main" id="{3F9F0917-EC13-817F-A7A1-C4C2A6B57C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369" y="1375050"/>
            <a:ext cx="2433527" cy="92980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E5CEBD0-52A1-B03E-E9A7-0BC790775076}"/>
              </a:ext>
            </a:extLst>
          </p:cNvPr>
          <p:cNvSpPr txBox="1"/>
          <p:nvPr/>
        </p:nvSpPr>
        <p:spPr>
          <a:xfrm>
            <a:off x="7822005" y="1621795"/>
            <a:ext cx="353648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The </a:t>
            </a:r>
            <a:r>
              <a:rPr lang="en-US" sz="3200" b="1" dirty="0" err="1"/>
              <a:t>GoFigr.io</a:t>
            </a:r>
            <a:r>
              <a:rPr lang="en-US" sz="3200" b="1" dirty="0"/>
              <a:t> portal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22E3A8-5639-5417-0C52-1FE0E65922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63655" y="3438582"/>
            <a:ext cx="1322242" cy="6941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96C3A33-5F1B-EA85-5C3C-77BA1910CEC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6687" r="23557"/>
          <a:stretch>
            <a:fillRect/>
          </a:stretch>
        </p:blipFill>
        <p:spPr>
          <a:xfrm>
            <a:off x="4469645" y="3483736"/>
            <a:ext cx="656889" cy="69417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008F5E1-A6E8-017A-020A-4D030D26A4D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92632" y="4106784"/>
            <a:ext cx="849123" cy="65931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81D8EBF-A48D-4D3F-6DA0-69E119B4709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13682" y="5266485"/>
            <a:ext cx="474722" cy="5474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EE4D20B-52F3-07E8-FACB-44677F4DE1C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11170" y="4415235"/>
            <a:ext cx="724222" cy="40737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02A89E4-A20F-43CA-500C-7501AAA667B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40141" y="5044016"/>
            <a:ext cx="1066280" cy="56065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7E5B62C-F3AD-4867-02D3-34BEEC7FBB2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5884" y="5604673"/>
            <a:ext cx="729508" cy="38358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CFE91C4-C09A-4312-E2A0-494793CF5E0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0301" y="4747323"/>
            <a:ext cx="1098865" cy="659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19445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C46504-5137-B067-E21E-59D03DC37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134A54-0490-0284-919F-D80B58105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C63C6-BC1E-CC49-9701-9DA8C2A99AE0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670613-4E7D-228E-78BA-82B655751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156" y="1258380"/>
            <a:ext cx="11257877" cy="4914691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Please visit </a:t>
            </a:r>
            <a:r>
              <a:rPr lang="en-US" dirty="0">
                <a:hlinkClick r:id="rId2"/>
              </a:rPr>
              <a:t>https://gofigr.io</a:t>
            </a:r>
            <a:r>
              <a:rPr lang="en-US" dirty="0"/>
              <a:t> for example figures and demo videos</a:t>
            </a:r>
          </a:p>
        </p:txBody>
      </p:sp>
    </p:spTree>
    <p:extLst>
      <p:ext uri="{BB962C8B-B14F-4D97-AF65-F5344CB8AC3E}">
        <p14:creationId xmlns:p14="http://schemas.microsoft.com/office/powerpoint/2010/main" val="283632033"/>
      </p:ext>
    </p:extLst>
  </p:cSld>
  <p:clrMapOvr>
    <a:masterClrMapping/>
  </p:clrMapOvr>
</p:sld>
</file>

<file path=ppt/theme/theme1.xml><?xml version="1.0" encoding="utf-8"?>
<a:theme xmlns:a="http://schemas.openxmlformats.org/drawingml/2006/main" name="slide template">
  <a:themeElements>
    <a:clrScheme name="Red Violet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0FA0F29A-7B41-6C43-8AFC-3393FEDA66B8}" vid="{43C2FB22-545B-8C49-A398-7A627D349BF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slide template</Template>
  <TotalTime>87450</TotalTime>
  <Words>262</Words>
  <Application>Microsoft Macintosh PowerPoint</Application>
  <PresentationFormat>Widescreen</PresentationFormat>
  <Paragraphs>55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slide template</vt:lpstr>
      <vt:lpstr>GoFigr Open Lab!</vt:lpstr>
      <vt:lpstr>Today</vt:lpstr>
      <vt:lpstr>Tracking down context and reproducing figures is hard</vt:lpstr>
      <vt:lpstr>What if you could embed context in the figure itself?</vt:lpstr>
      <vt:lpstr>GoFigr: automatic provenance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Making data discoverable</dc:title>
  <dc:creator>Maciej Pacula</dc:creator>
  <cp:lastModifiedBy>Maciej Pacula</cp:lastModifiedBy>
  <cp:revision>457</cp:revision>
  <cp:lastPrinted>2024-11-04T19:34:58Z</cp:lastPrinted>
  <dcterms:created xsi:type="dcterms:W3CDTF">2021-10-18T13:52:59Z</dcterms:created>
  <dcterms:modified xsi:type="dcterms:W3CDTF">2026-04-08T13:42:50Z</dcterms:modified>
</cp:coreProperties>
</file>